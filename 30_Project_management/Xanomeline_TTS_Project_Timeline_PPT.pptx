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 – Xanomeline TTS Clinical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Lifecycle Overview (2012–2015)</a:t>
            </a:r>
          </a:p>
          <a:p/>
          <a:p>
            <a:r>
              <a:t>Visual suggestion: Background image of Alzheimer’s care or molecular 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Design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Phase 3, randomized, double-blind, placebo-controlled</a:t>
            </a:r>
          </a:p>
          <a:p>
            <a:r>
              <a:t>• Population: Mild to Moderate Alzheimer’s Disease</a:t>
            </a:r>
          </a:p>
          <a:p>
            <a:r>
              <a:t>• Duration: 132 weeks (2012–2015)</a:t>
            </a:r>
          </a:p>
          <a:p/>
          <a:p>
            <a:r>
              <a:t>Visual suggestion: Flowchart (Screening → Randomization → Treatment → Follow-up)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Study Lifecycle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Protocol Development → Study Startup → Enrollment → Analysis → CSR</a:t>
            </a:r>
          </a:p>
          <a:p>
            <a:r>
              <a:t>• Clear milestones for tracking progress</a:t>
            </a:r>
          </a:p>
          <a:p/>
          <a:p>
            <a:r>
              <a:t>Visual suggestion: Gantt-style timeline (2012–2015)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 Finalization &amp; Approvals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Draft completed: July 2012</a:t>
            </a:r>
          </a:p>
          <a:p>
            <a:r>
              <a:t>• IRB/EC submission: Aug 2012</a:t>
            </a:r>
          </a:p>
          <a:p>
            <a:r>
              <a:t>• Final approval: Oct 2012</a:t>
            </a:r>
          </a:p>
          <a:p/>
          <a:p>
            <a:r>
              <a:t>Visual suggestion: Approval workflow diagram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Startup (Q4 2012–Q2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Site selection &amp; initiation</a:t>
            </a:r>
          </a:p>
          <a:p>
            <a:r>
              <a:t>• CRA &amp; site staff training</a:t>
            </a:r>
          </a:p>
          <a:p>
            <a:r>
              <a:t>• EDC build, UAT, and go-live</a:t>
            </a:r>
          </a:p>
          <a:p/>
          <a:p>
            <a:r>
              <a:t>Visual suggestion: Milestone timeline 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and Treatment (Jun 2013–Sep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FPFV: June 2013</a:t>
            </a:r>
          </a:p>
          <a:p>
            <a:r>
              <a:t>• Enrollment complete: Feb 2014</a:t>
            </a:r>
          </a:p>
          <a:p>
            <a:r>
              <a:t>• LPLV: Sep 2014</a:t>
            </a:r>
          </a:p>
          <a:p/>
          <a:p>
            <a:r>
              <a:t>Visual suggestion: Enrollment curve 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Management (2013–2014)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CRF design &amp; edit checks</a:t>
            </a:r>
          </a:p>
          <a:p>
            <a:r>
              <a:t>• Query management &amp; SAE reconciliation</a:t>
            </a:r>
          </a:p>
          <a:p>
            <a:r>
              <a:t>• Interim data review</a:t>
            </a:r>
          </a:p>
          <a:p/>
          <a:p>
            <a:r>
              <a:t>Visual suggestion: DM workflow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Programming &amp; Analysis (Q4 2014–Q1 2015)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DB Lock: Dec 2014</a:t>
            </a:r>
          </a:p>
          <a:p>
            <a:r>
              <a:t>• TLF generation &amp; QC</a:t>
            </a:r>
          </a:p>
          <a:p>
            <a:r>
              <a:t>• ADaM &amp; SDTM finalization</a:t>
            </a:r>
          </a:p>
          <a:p/>
          <a:p>
            <a:r>
              <a:t>Visual suggestion: Overlapping tasks Gantt chart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Study Report (CSR) Delivery (Mar 2015)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Draft CSR: Feb 2015</a:t>
            </a:r>
          </a:p>
          <a:p>
            <a:r>
              <a:t>• Sponsor QC &amp; review</a:t>
            </a:r>
          </a:p>
          <a:p>
            <a:r>
              <a:t>• Final submission: Mar 5, 2015</a:t>
            </a:r>
          </a:p>
          <a:p/>
          <a:p>
            <a:r>
              <a:t>Visual suggestion: Document review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Interdepartmental Coordination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DM–Stats–Medical Writing alignment</a:t>
            </a:r>
          </a:p>
          <a:p>
            <a:r>
              <a:t>• Risk mitigation &amp; version tracking</a:t>
            </a:r>
          </a:p>
          <a:p>
            <a:r>
              <a:t>• Continuous feedback loops</a:t>
            </a:r>
          </a:p>
          <a:p/>
          <a:p>
            <a:r>
              <a:t>Visual suggestion: Three-circle collaboration 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Areas for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Timeline compression opportunities</a:t>
            </a:r>
          </a:p>
          <a:p>
            <a:r>
              <a:t>• EDC automation &amp; real-time QC</a:t>
            </a:r>
          </a:p>
          <a:p>
            <a:r>
              <a:t>• Improved cross-functional alignment</a:t>
            </a:r>
          </a:p>
          <a:p/>
          <a:p>
            <a:r>
              <a:t>Visual suggestion: Current vs. Improved Timeline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Can We Add or Improve?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Review current timeline and propose enhancements</a:t>
            </a:r>
          </a:p>
          <a:p>
            <a:r>
              <a:t>• Identify overlapping tasks to shorten the cycle</a:t>
            </a:r>
          </a:p>
          <a:p>
            <a:r>
              <a:t>• Align on next steps this quarter</a:t>
            </a:r>
          </a:p>
          <a:p/>
          <a:p>
            <a:r>
              <a:t>Visual suggestion: Simple lightbulb or arrow graphic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